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75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kills/getting-started-with-github-copilot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hyperlink" Target="https://github.com/luiselopezlopez/GHCopilotWorkshop_PPC2026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hyperlink" Target="https://microsoftlearning.github.io/mslearn-github-copilot-dev/Instructions/Labs/LAB_AK_02_analyze_document_code_py.html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microsoftlearning.github.io/mslearn-github-copilot-dev/Instructions/Labs/LAB_AK_03_develop_code_features_py.html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microsoftlearning.github.io/mslearn-github-copilot-dev/Instructions/Labs/LAB_AK_06_vibe_coding_prototype_ecommerce_app.html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10" Type="http://schemas.openxmlformats.org/officeDocument/2006/relationships/hyperlink" Target="https://microsoftlearning.github.io/mslearn-github-copilot-dev/Instructions/Labs/LAB_AK_13_get-started-spec-driven-development.html" TargetMode="External"/><Relationship Id="rId4" Type="http://schemas.openxmlformats.org/officeDocument/2006/relationships/image" Target="../media/image27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hyperlink" Target="https://microsoftlearning.github.io/mslearn-github-copilot-dev/" TargetMode="External"/><Relationship Id="rId5" Type="http://schemas.openxmlformats.org/officeDocument/2006/relationships/image" Target="../media/image14.png"/><Relationship Id="rId10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aka.ms/GH300-StudyGuid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paths/gh-copilot-2/" TargetMode="External"/><Relationship Id="rId5" Type="http://schemas.openxmlformats.org/officeDocument/2006/relationships/hyperlink" Target="https://learn.microsoft.com/en-us/training/paths/copilot/" TargetMode="Externa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rgbClr val="F0FBFA"/>
            </a:gs>
            <a:gs pos="74000">
              <a:srgbClr val="A7D8D3"/>
            </a:gs>
            <a:gs pos="83000">
              <a:srgbClr val="A7D8D3"/>
            </a:gs>
            <a:gs pos="100000">
              <a:srgbClr val="CDECE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320" y="0"/>
            <a:ext cx="4872199" cy="6858000"/>
          </a:xfrm>
          <a:prstGeom prst="rect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40956" y="839717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36" y="1022597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3677" y="21303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3200">
              <a:solidFill>
                <a:srgbClr val="02809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330797" y="2522759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>
                <a:solidFill>
                  <a:srgbClr val="1E293B"/>
                </a:solidFill>
                <a:latin typeface="Consolas" panose="020B0609020204030204" pitchFamily="49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6600">
              <a:solidFill>
                <a:srgbClr val="1E293B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13677" y="369346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autocompletación al desarrollo dirigido por especificaciones</a:t>
            </a:r>
            <a:endParaRPr lang="en-US">
              <a:solidFill>
                <a:srgbClr val="1E293B"/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3FB0312A-9078-C9AF-4A23-844315405F24}"/>
              </a:ext>
            </a:extLst>
          </p:cNvPr>
          <p:cNvSpPr/>
          <p:nvPr/>
        </p:nvSpPr>
        <p:spPr>
          <a:xfrm>
            <a:off x="8468310" y="86300"/>
            <a:ext cx="2525534" cy="304805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B06853DC-6797-D050-8A46-410007759C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77922" y="304018"/>
            <a:ext cx="1306311" cy="13063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049311CB-F941-9876-2398-6B9DE4E4CD1F}"/>
              </a:ext>
            </a:extLst>
          </p:cNvPr>
          <p:cNvSpPr/>
          <p:nvPr/>
        </p:nvSpPr>
        <p:spPr>
          <a:xfrm>
            <a:off x="8642485" y="1655639"/>
            <a:ext cx="2177184" cy="391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Luise López</a:t>
            </a:r>
            <a:endParaRPr lang="en-US" sz="18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8DBCC1B-B6FF-68A3-9C33-DAC419A89CE9}"/>
              </a:ext>
            </a:extLst>
          </p:cNvPr>
          <p:cNvSpPr/>
          <p:nvPr/>
        </p:nvSpPr>
        <p:spPr>
          <a:xfrm>
            <a:off x="8605470" y="2234806"/>
            <a:ext cx="2177184" cy="261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Solutions Architect </a:t>
            </a:r>
            <a:br>
              <a:rPr lang="en-US" sz="1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 Leader</a:t>
            </a:r>
            <a:br>
              <a:rPr lang="en-US" sz="1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</a:t>
            </a:r>
            <a:endParaRPr lang="en-US" sz="1300" dirty="0"/>
          </a:p>
        </p:txBody>
      </p:sp>
      <p:pic>
        <p:nvPicPr>
          <p:cNvPr id="27" name="Imagen 23">
            <a:extLst>
              <a:ext uri="{FF2B5EF4-FFF2-40B4-BE49-F238E27FC236}">
                <a16:creationId xmlns:a16="http://schemas.microsoft.com/office/drawing/2014/main" id="{84836451-7C0E-9871-470F-18B6A76FA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7878" y="2418945"/>
            <a:ext cx="1325195" cy="745422"/>
          </a:xfrm>
          <a:prstGeom prst="rect">
            <a:avLst/>
          </a:prstGeom>
        </p:spPr>
      </p:pic>
      <p:sp>
        <p:nvSpPr>
          <p:cNvPr id="28" name="Shape 12">
            <a:extLst>
              <a:ext uri="{FF2B5EF4-FFF2-40B4-BE49-F238E27FC236}">
                <a16:creationId xmlns:a16="http://schemas.microsoft.com/office/drawing/2014/main" id="{9AF85CF4-017B-6AB8-CD56-A81FE4F0271F}"/>
              </a:ext>
            </a:extLst>
          </p:cNvPr>
          <p:cNvSpPr/>
          <p:nvPr/>
        </p:nvSpPr>
        <p:spPr>
          <a:xfrm>
            <a:off x="8418372" y="3485291"/>
            <a:ext cx="2575472" cy="3108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0" name="Image 2">
            <a:extLst>
              <a:ext uri="{FF2B5EF4-FFF2-40B4-BE49-F238E27FC236}">
                <a16:creationId xmlns:a16="http://schemas.microsoft.com/office/drawing/2014/main" id="{B7BBF9A7-6428-B278-BA2A-8C39B3D744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0038" y="3580101"/>
            <a:ext cx="1332141" cy="13201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1" name="Text 14">
            <a:extLst>
              <a:ext uri="{FF2B5EF4-FFF2-40B4-BE49-F238E27FC236}">
                <a16:creationId xmlns:a16="http://schemas.microsoft.com/office/drawing/2014/main" id="{65AF7D80-0C52-EAB0-827C-91992F57C086}"/>
              </a:ext>
            </a:extLst>
          </p:cNvPr>
          <p:cNvSpPr/>
          <p:nvPr/>
        </p:nvSpPr>
        <p:spPr>
          <a:xfrm>
            <a:off x="8595991" y="4903550"/>
            <a:ext cx="2220234" cy="399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Ramón</a:t>
            </a:r>
            <a:endParaRPr lang="en-US" sz="18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BA20C5CA-E3FD-A79E-B9F6-1A47DE43CF97}"/>
              </a:ext>
            </a:extLst>
          </p:cNvPr>
          <p:cNvSpPr/>
          <p:nvPr/>
        </p:nvSpPr>
        <p:spPr>
          <a:xfrm>
            <a:off x="8469326" y="5411323"/>
            <a:ext cx="2466878" cy="26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Evangelista Copilot 🤖. CMO 😍. Consultor </a:t>
            </a:r>
            <a:r>
              <a:rPr lang="en-US" sz="15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</a:t>
            </a: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y Dynamics 365 👨‍💻. </a:t>
            </a:r>
            <a:endParaRPr lang="en-US" sz="1200" dirty="0"/>
          </a:p>
        </p:txBody>
      </p:sp>
      <p:pic>
        <p:nvPicPr>
          <p:cNvPr id="33" name="Imagen 2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BE1A178-29E5-94F3-440E-0AD2D66E9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2562" y="5855503"/>
            <a:ext cx="1159358" cy="604789"/>
          </a:xfrm>
          <a:prstGeom prst="rect">
            <a:avLst/>
          </a:prstGeom>
        </p:spPr>
      </p:pic>
      <p:pic>
        <p:nvPicPr>
          <p:cNvPr id="34" name="Imagen 30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6EBF6073-D03C-CDAA-AC0E-2800ABFAB6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6108" y="5898765"/>
            <a:ext cx="1151086" cy="261872"/>
          </a:xfrm>
          <a:prstGeom prst="rect">
            <a:avLst/>
          </a:prstGeom>
        </p:spPr>
      </p:pic>
      <p:pic>
        <p:nvPicPr>
          <p:cNvPr id="35" name="Picture 8" descr="Logo-Blanco-virg-roja">
            <a:extLst>
              <a:ext uri="{FF2B5EF4-FFF2-40B4-BE49-F238E27FC236}">
                <a16:creationId xmlns:a16="http://schemas.microsoft.com/office/drawing/2014/main" id="{15003C31-7613-0863-BEB3-E4D92ABD1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536" y="6193270"/>
            <a:ext cx="1099659" cy="2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Imagen 1026">
            <a:extLst>
              <a:ext uri="{FF2B5EF4-FFF2-40B4-BE49-F238E27FC236}">
                <a16:creationId xmlns:a16="http://schemas.microsoft.com/office/drawing/2014/main" id="{7CF309D7-2511-1E49-98E8-563313D71F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0747" y="4617835"/>
            <a:ext cx="267485" cy="267485"/>
          </a:xfrm>
          <a:prstGeom prst="rect">
            <a:avLst/>
          </a:prstGeom>
        </p:spPr>
      </p:pic>
      <p:pic>
        <p:nvPicPr>
          <p:cNvPr id="41" name="Picture 40" descr="Power Platform Castellón User Group">
            <a:extLst>
              <a:ext uri="{FF2B5EF4-FFF2-40B4-BE49-F238E27FC236}">
                <a16:creationId xmlns:a16="http://schemas.microsoft.com/office/drawing/2014/main" id="{810AEA3E-BCAF-9514-DCC2-3C58F03D00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080" y="4575406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SESIÓN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532120" cy="1170432"/>
          </a:xfrm>
          <a:prstGeom prst="roundRect">
            <a:avLst>
              <a:gd name="adj" fmla="val 625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31520" y="16642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600200" y="17739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8653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40280" y="17007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básicos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240280" y="206654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los modos Ask/Plan/Agent y cómo interactuar con la IA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0" y="1554480"/>
            <a:ext cx="5532120" cy="1170432"/>
          </a:xfrm>
          <a:prstGeom prst="roundRect">
            <a:avLst>
              <a:gd name="adj" fmla="val 625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6583680" y="16642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7452360" y="17739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86537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2440" y="17007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contacto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092440" y="206654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guiado: Getting Started with GitHub Copilot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2907792"/>
            <a:ext cx="5532120" cy="1170432"/>
          </a:xfrm>
          <a:prstGeom prst="roundRect">
            <a:avLst>
              <a:gd name="adj" fmla="val 625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73152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Shape 15"/>
          <p:cNvSpPr/>
          <p:nvPr/>
        </p:nvSpPr>
        <p:spPr>
          <a:xfrm>
            <a:off x="1600200" y="3127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321868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40280" y="30540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del workshop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240280" y="3419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lab PPC 2026: corregir un bug y personalizar Copilot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0" y="2907792"/>
            <a:ext cx="5532120" cy="1170432"/>
          </a:xfrm>
          <a:prstGeom prst="roundRect">
            <a:avLst>
              <a:gd name="adj" fmla="val 625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19"/>
          <p:cNvSpPr/>
          <p:nvPr/>
        </p:nvSpPr>
        <p:spPr>
          <a:xfrm>
            <a:off x="658368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6" name="Shape 20"/>
          <p:cNvSpPr/>
          <p:nvPr/>
        </p:nvSpPr>
        <p:spPr>
          <a:xfrm>
            <a:off x="7452360" y="3127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321868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92440" y="30540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Analizar y documentar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092440" y="3419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un código desconocido y generar su README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548640" y="4261104"/>
            <a:ext cx="5532120" cy="1170432"/>
          </a:xfrm>
          <a:prstGeom prst="roundRect">
            <a:avLst>
              <a:gd name="adj" fmla="val 625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4"/>
          <p:cNvSpPr/>
          <p:nvPr/>
        </p:nvSpPr>
        <p:spPr>
          <a:xfrm>
            <a:off x="731520" y="43708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32" name="Shape 25"/>
          <p:cNvSpPr/>
          <p:nvPr/>
        </p:nvSpPr>
        <p:spPr>
          <a:xfrm>
            <a:off x="1600200" y="4480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1640" y="457200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240280" y="44074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features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2240280" y="477316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una funcionalidad nueva con Inline / Ask / Edit / Agent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400800" y="4261104"/>
            <a:ext cx="5532120" cy="1170432"/>
          </a:xfrm>
          <a:prstGeom prst="roundRect">
            <a:avLst>
              <a:gd name="adj" fmla="val 625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29"/>
          <p:cNvSpPr/>
          <p:nvPr/>
        </p:nvSpPr>
        <p:spPr>
          <a:xfrm>
            <a:off x="6583680" y="43708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38" name="Shape 30"/>
          <p:cNvSpPr/>
          <p:nvPr/>
        </p:nvSpPr>
        <p:spPr>
          <a:xfrm>
            <a:off x="7452360" y="4480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4572000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092440" y="44074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</a:t>
            </a: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8092440" y="477316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 una app con Copilot Agent partiendo de un PRD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548640" y="5614416"/>
            <a:ext cx="5532120" cy="1170432"/>
          </a:xfrm>
          <a:prstGeom prst="roundRect">
            <a:avLst>
              <a:gd name="adj" fmla="val 625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Text 34"/>
          <p:cNvSpPr/>
          <p:nvPr/>
        </p:nvSpPr>
        <p:spPr>
          <a:xfrm>
            <a:off x="731520" y="572414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400" dirty="0"/>
          </a:p>
        </p:txBody>
      </p:sp>
      <p:sp>
        <p:nvSpPr>
          <p:cNvPr id="44" name="Shape 35"/>
          <p:cNvSpPr/>
          <p:nvPr/>
        </p:nvSpPr>
        <p:spPr>
          <a:xfrm>
            <a:off x="1600200" y="58338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5925312"/>
            <a:ext cx="274320" cy="2743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2240280" y="5760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Development</a:t>
            </a:r>
            <a:endParaRPr lang="en-US" sz="1600" dirty="0"/>
          </a:p>
        </p:txBody>
      </p:sp>
      <p:sp>
        <p:nvSpPr>
          <p:cNvPr id="47" name="Text 37"/>
          <p:cNvSpPr/>
          <p:nvPr/>
        </p:nvSpPr>
        <p:spPr>
          <a:xfrm>
            <a:off x="2240280" y="612648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Kit: constitución, spec, plan, tasks e implementación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BÁSICOS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 y el modo Ask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es tu “pair programmer” con IA: explica, escribe, planifica y desarrolla código. La forma más directa de conversar con él es el modo Ask.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56946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77240" y="3108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sobre tu código: explicaciones, ideas y sugerencias sin editar archivos.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5112" y="22402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553712" y="24688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2569464"/>
            <a:ext cx="347472" cy="347472"/>
          </a:xfrm>
          <a:prstGeom prst="rect">
            <a:avLst/>
          </a:prstGeom>
          <a:solidFill>
            <a:srgbClr val="028090"/>
          </a:solidFill>
        </p:spPr>
      </p:pic>
      <p:sp>
        <p:nvSpPr>
          <p:cNvPr id="15" name="Text 10"/>
          <p:cNvSpPr/>
          <p:nvPr/>
        </p:nvSpPr>
        <p:spPr>
          <a:xfrm>
            <a:off x="5239512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553712" y="3108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enfoque antes de codificar: Copilot propone los pasos y el alcance del cambio.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01584" y="22402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330184" y="24688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256946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15984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8330184" y="3108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una tarea de alto nivel y Copilot planifica, edita, ejecuta y verifica.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del modo Ask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" y="4526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18"/>
          <p:cNvSpPr/>
          <p:nvPr/>
        </p:nvSpPr>
        <p:spPr>
          <a:xfrm>
            <a:off x="804672" y="4709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Chat participants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04672" y="5166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Acotan el prompt a un dominio, p. ej. @workspace conoce todo el proyecto.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325112" y="4526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1"/>
          <p:cNvSpPr/>
          <p:nvPr/>
        </p:nvSpPr>
        <p:spPr>
          <a:xfrm>
            <a:off x="4581144" y="4709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Chat variables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4581144" y="5166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Aportan contexto concreto: #codebase, #usages, #file.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8101584" y="4526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4"/>
          <p:cNvSpPr/>
          <p:nvPr/>
        </p:nvSpPr>
        <p:spPr>
          <a:xfrm>
            <a:off x="8357616" y="4709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Slash commands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8357616" y="5166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para tareas comunes: /explain, /fix, /tests.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ARRANQUE · GITHUB SKILLS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 GitHub Copilot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práctico de menos de una hora en el que guiarás a Copilot para actualizar la web de actividades extraescolares de un instituto. Todo se ejecuta en un </a:t>
            </a: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 preconfigurado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(VS Code en el navegador).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5532120" cy="1737360"/>
          </a:xfrm>
          <a:prstGeom prst="roundRect">
            <a:avLst>
              <a:gd name="adj" fmla="val 4211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804672" y="272491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432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aprenderás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22960" y="333756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distintas formas de interactuar con Copilot para explicar, escribir, planificar y desarrollar código.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0" y="2468880"/>
            <a:ext cx="5532120" cy="1737360"/>
          </a:xfrm>
          <a:prstGeom prst="roundRect">
            <a:avLst>
              <a:gd name="adj" fmla="val 4211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6656832" y="272491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0"/>
          <p:cNvSpPr/>
          <p:nvPr/>
        </p:nvSpPr>
        <p:spPr>
          <a:xfrm>
            <a:off x="7360920" y="27432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construirás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675120" y="333756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sobre la web escolar, usando sugerencias en línea y el chat de Copilot.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462272"/>
            <a:ext cx="5532120" cy="1737360"/>
          </a:xfrm>
          <a:prstGeom prst="roundRect">
            <a:avLst>
              <a:gd name="adj" fmla="val 4211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04672" y="471830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2803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7365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empezar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22960" y="5330952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la plantilla a tu cuenta, espera ~20 s a que se prepare la primera lección y refresca la página.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0" y="4462272"/>
            <a:ext cx="5532120" cy="1737360"/>
          </a:xfrm>
          <a:prstGeom prst="roundRect">
            <a:avLst>
              <a:gd name="adj" fmla="val 4211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6656832" y="471830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82803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60920" y="47365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675120" y="5330952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Usarás Copilot para resumir y revisar tu Pull Request al final del ejercicio.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6236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632764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24128" y="623620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 </a:t>
            </a:r>
            <a:r>
              <a:rPr lang="en-US" sz="11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https://github.com/skills/getting-started-with-github-copilot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9399" y="2825496"/>
            <a:ext cx="347472" cy="347472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DEL WORKSHOP · &lt; 2 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 Workshop — PPC 2026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laboratorio: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corregirás un bug real y añadirás customizaciones de Copilot a una app web de notas con FastAPI. Son 8 ejercicios individuales, cada uno con su propia validación.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804672" y="281635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260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346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Diagnosticar con Ask, Plan y Agent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342900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Usarás los tres modos para localizar y entender un bug real en la aplicación.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0" y="2560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6656832" y="281635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92608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8346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Añadir features personalizando Copilot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75120" y="342900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custom instructions, skills y agents para desarrollar nuevas funciones.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507992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04672" y="476402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87375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7823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GitHub Skills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22960" y="5376672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la plantilla a tu cuenta; el primer lab aparece en la pestaña Issues con su Codespace.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0" y="4507992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6656832" y="476402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48737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60920" y="47823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Autoguiado y validado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675120" y="5376672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ejercicio se completa y valida por separado, a tu propio ritmo, en menos de 2 horas.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6236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632764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24128" y="623620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 </a:t>
            </a:r>
            <a:r>
              <a:rPr lang="en-US" sz="11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https://github.com/luiselopezlopez/GHCopilotWorkshop_PPC2026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~20 MIN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Analizar y documentar código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de la biblioteca pública se perdieron en un incendio. Un colega dejó una app de Python sin documentar y tu tarea es entender el código y generar su documentación con Copilot.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804672" y="277063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803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889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Explorar el proyecto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22960" y="3355848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@workspace describe este proyecto para entender application_core, infrastructure, console y tests.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0" y="251460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6656832" y="277063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880360"/>
            <a:ext cx="347472" cy="347472"/>
          </a:xfrm>
          <a:prstGeom prst="rect">
            <a:avLst/>
          </a:prstGeom>
          <a:solidFill>
            <a:srgbClr val="028090"/>
          </a:solidFill>
        </p:spPr>
      </p:pic>
      <p:sp>
        <p:nvSpPr>
          <p:cNvPr id="15" name="Text 10"/>
          <p:cNvSpPr/>
          <p:nvPr/>
        </p:nvSpPr>
        <p:spPr>
          <a:xfrm>
            <a:off x="7360920" y="27889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Explicar clases y archivos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675120" y="3355848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#usages y /explain para saber cómo se usa ConsoleApp y qué hace main.py.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462272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04672" y="471830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82803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7365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Añadir contexto al chat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22960" y="530352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 archivos (json_data.py, repositorios) o usa #codebase para respuestas más precisas.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0" y="4462272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6656832" y="471830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482803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60920" y="47365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Generar el README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675120" y="530352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@workspace crea un README.md con Descripción, Estructura, Clases clave, Uso y Licencia.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6236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632764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24128" y="623620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 </a:t>
            </a:r>
            <a:r>
              <a:rPr lang="en-US" sz="11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https://microsoftlearning.github.io/mslearn-github-copilot-dev/Instructions/Labs/LAB_AK_02_analyze_document_code_py.html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~30 MIN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feature: disponibilidad de libros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 bibliotecario pueda comprobar si un libro está disponible para préstamo, mostrando “disponible” o la fecha de devolución si está prestado. Trabajarás en una rama propia y harás un Pull Request.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804672" y="281635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260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346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el repo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22960" y="3401568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Publicas la app en GitHub y creas la rama book availability para aislar el trabajo.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0" y="2560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6656832" y="281635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926080"/>
            <a:ext cx="347472" cy="347472"/>
          </a:xfrm>
          <a:prstGeom prst="rect">
            <a:avLst/>
          </a:prstGeom>
          <a:solidFill>
            <a:srgbClr val="028090"/>
          </a:solidFill>
        </p:spPr>
      </p:pic>
      <p:sp>
        <p:nvSpPr>
          <p:cNvPr id="15" name="Text 10"/>
          <p:cNvSpPr/>
          <p:nvPr/>
        </p:nvSpPr>
        <p:spPr>
          <a:xfrm>
            <a:off x="7360920" y="28346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Chat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675120" y="3401568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Añades la acción SEARCH_BOOKS al enum y actualizas las opciones del menú directamente en el editor.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507992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04672" y="476402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73752"/>
            <a:ext cx="347472" cy="347472"/>
          </a:xfrm>
          <a:prstGeom prst="rect">
            <a:avLst/>
          </a:prstGeom>
          <a:solidFill>
            <a:srgbClr val="028090"/>
          </a:solidFill>
        </p:spPr>
      </p:pic>
      <p:sp>
        <p:nvSpPr>
          <p:cNvPr id="20" name="Text 14"/>
          <p:cNvSpPr/>
          <p:nvPr/>
        </p:nvSpPr>
        <p:spPr>
          <a:xfrm>
            <a:off x="1508760" y="47823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&amp; Edit mode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22960" y="534924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Planificas con Ask y aplicas el método search_books con Edit sobre varios archivos y los JSON de datos.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0" y="4507992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6656832" y="476402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8737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60920" y="47823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mode + PR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675120" y="534924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corrige el bug de checkout; luego generas commit y resumen del PR con Copilot.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6236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632764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24128" y="623620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 </a:t>
            </a:r>
            <a:r>
              <a:rPr lang="en-US" sz="11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https://microsoftlearning.github.io/mslearn-github-copilot-dev/Instructions/Labs/LAB_AK_03_develop_code_features_py.html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~30 MIN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 con Copilot Agent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 app en lenguaje natural y dejar que la IA genere el código. Construirás el prototipo de una tienda online (HTML, CSS y JS) con páginas de Productos, Detalle, Carrito y Checkout.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804672" y="281635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26080"/>
            <a:ext cx="347472" cy="347472"/>
          </a:xfrm>
          <a:prstGeom prst="rect">
            <a:avLst/>
          </a:prstGeom>
          <a:solidFill>
            <a:srgbClr val="028090"/>
          </a:solidFill>
        </p:spPr>
      </p:pic>
      <p:sp>
        <p:nvSpPr>
          <p:cNvPr id="10" name="Text 6"/>
          <p:cNvSpPr/>
          <p:nvPr/>
        </p:nvSpPr>
        <p:spPr>
          <a:xfrm>
            <a:off x="1508760" y="28346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requisitos (PRD)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22960" y="3401568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modo Ask conviertes tus especificaciones base en un Product Requirements Document.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0" y="2560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6656832" y="281635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92608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8346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Wireframes de baja fidelidad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675120" y="3401568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 diagramas de texto de cada página y de la barra de navegación.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507992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04672" y="476402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73752"/>
            <a:ext cx="347472" cy="347472"/>
          </a:xfrm>
          <a:prstGeom prst="rect">
            <a:avLst/>
          </a:prstGeom>
          <a:solidFill>
            <a:srgbClr val="028090"/>
          </a:solidFill>
        </p:spPr>
      </p:pic>
      <p:sp>
        <p:nvSpPr>
          <p:cNvPr id="20" name="Text 14"/>
          <p:cNvSpPr/>
          <p:nvPr/>
        </p:nvSpPr>
        <p:spPr>
          <a:xfrm>
            <a:off x="1508760" y="47823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el prototipo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22960" y="534924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 construye app.js, index.html y styles.css a partir del PRD y los wireframes.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0" y="4507992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6656832" y="476402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8737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60920" y="47823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Refinar iterando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675120" y="534924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#codebase ajustas breakpoints, emojis en el nav, toasts y el badge del carrito.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6236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632764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24128" y="623620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 </a:t>
            </a:r>
            <a:r>
              <a:rPr lang="en-US" sz="11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https://microsoftlearning.github.io/mslearn-github-copilot-dev/Instructions/Labs/LAB_AK_06_vibe_coding_prototype_ecommerce_app.html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~60 MIN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Development con GitHub Spec Kit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las especificaciones con Copilot para desarrollar desde cero. Construirás el MVP de un lector de RSS (.NET) partiendo de documentos de stakeholders, guiado por comandos /speckit.*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trabajo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13232" y="31821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98448" y="3474720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35844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411480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" y="440740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y estándares del proyecto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15184" y="3474720"/>
            <a:ext cx="21031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2798064" y="30175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2962656" y="31821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47872" y="3474720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58444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89504" y="411480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907792" y="440740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qué: historias de usuario y requisitos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864608" y="3474720"/>
            <a:ext cx="21031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5047488" y="30175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/>
          <p:nvPr/>
        </p:nvSpPr>
        <p:spPr>
          <a:xfrm>
            <a:off x="5212080" y="31821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797296" y="3474720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358444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38928" y="411480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157216" y="440740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cómo: arquitectura y modelo de datos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114032" y="3474720"/>
            <a:ext cx="21031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3"/>
          <p:cNvSpPr/>
          <p:nvPr/>
        </p:nvSpPr>
        <p:spPr>
          <a:xfrm>
            <a:off x="7296912" y="30175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4"/>
          <p:cNvSpPr/>
          <p:nvPr/>
        </p:nvSpPr>
        <p:spPr>
          <a:xfrm>
            <a:off x="7461504" y="31821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046720" y="3474720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3584448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88352" y="411480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406640" y="440740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en tareas accionables por fases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9363456" y="3474720"/>
            <a:ext cx="21031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36" name="Shape 29"/>
          <p:cNvSpPr/>
          <p:nvPr/>
        </p:nvSpPr>
        <p:spPr>
          <a:xfrm>
            <a:off x="9546336" y="301752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30"/>
          <p:cNvSpPr/>
          <p:nvPr/>
        </p:nvSpPr>
        <p:spPr>
          <a:xfrm>
            <a:off x="9710928" y="31821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10296144" y="3474720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5872" y="3584448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637776" y="411480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9656064" y="440740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 construye el MVP tarea a tarea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MVP funcional (añadir y ver suscripciones RSS) probado contra los criterios de aceptación del spec, con la IA depurando junto a ti.</a:t>
            </a:r>
            <a:endParaRPr lang="en-US" sz="1350" dirty="0"/>
          </a:p>
        </p:txBody>
      </p:sp>
      <p:sp>
        <p:nvSpPr>
          <p:cNvPr id="43" name="Shape 35"/>
          <p:cNvSpPr/>
          <p:nvPr/>
        </p:nvSpPr>
        <p:spPr>
          <a:xfrm>
            <a:off x="548640" y="6236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327648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24128" y="623620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 </a:t>
            </a:r>
            <a:r>
              <a:rPr lang="en-US" sz="11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https://microsoftlearning.github.io/mslearn-github-copilot-dev/Instructions/Labs/LAB_AK_13_get-started-spec-driven-development.html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PRACTICANDO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Muchos más laboratorios disponibles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de ejercicios de Microsoft Learn reúne decenas de labs guiados sobre las capacidades de GitHub Copilot y técnicas de vibe coding. Explóralos a tu ritmo: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685032" cy="1572768"/>
          </a:xfrm>
          <a:prstGeom prst="roundRect">
            <a:avLst>
              <a:gd name="adj" fmla="val 4651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060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05456"/>
            <a:ext cx="2679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y ajustes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3072384"/>
            <a:ext cx="32278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entorno, explorar la interfaz y las opciones de Copilot en VS Code.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489704" y="2286000"/>
            <a:ext cx="3685032" cy="1572768"/>
          </a:xfrm>
          <a:prstGeom prst="roundRect">
            <a:avLst>
              <a:gd name="adj" fmla="val 4651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718304" y="251460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606040"/>
            <a:ext cx="320040" cy="320040"/>
          </a:xfrm>
          <a:prstGeom prst="rect">
            <a:avLst/>
          </a:prstGeom>
          <a:solidFill>
            <a:srgbClr val="028090"/>
          </a:solidFill>
        </p:spPr>
      </p:pic>
      <p:sp>
        <p:nvSpPr>
          <p:cNvPr id="15" name="Text 10"/>
          <p:cNvSpPr/>
          <p:nvPr/>
        </p:nvSpPr>
        <p:spPr>
          <a:xfrm>
            <a:off x="5358384" y="2505456"/>
            <a:ext cx="2679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y pruebas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745736" y="3072384"/>
            <a:ext cx="32278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Documentar, crear features, generar tests unitarios y prototipar con vibe coding.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430768" y="2286000"/>
            <a:ext cx="3685032" cy="1572768"/>
          </a:xfrm>
          <a:prstGeom prst="roundRect">
            <a:avLst>
              <a:gd name="adj" fmla="val 4651"/>
            </a:avLst>
          </a:prstGeom>
          <a:solidFill>
            <a:srgbClr val="F0FBF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659368" y="251460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808" y="26060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99448" y="2505456"/>
            <a:ext cx="2679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Refactorización y rendimiento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686800" y="3072384"/>
            <a:ext cx="32278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código duplicado, dividir funciones grandes, simplificar condicionales y perfilar.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078224"/>
            <a:ext cx="3685032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777240" y="4306824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98264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297680"/>
            <a:ext cx="2679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04672" y="4864608"/>
            <a:ext cx="32278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issues, vulnerabilidades y alertas de secret scanning con Ask y Agent.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489704" y="4078224"/>
            <a:ext cx="3685032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1"/>
          <p:cNvSpPr/>
          <p:nvPr/>
        </p:nvSpPr>
        <p:spPr>
          <a:xfrm>
            <a:off x="4718304" y="4306824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4398264"/>
            <a:ext cx="320040" cy="320040"/>
          </a:xfrm>
          <a:prstGeom prst="rect">
            <a:avLst/>
          </a:prstGeom>
          <a:solidFill>
            <a:srgbClr val="028090"/>
          </a:solidFill>
        </p:spPr>
      </p:pic>
      <p:sp>
        <p:nvSpPr>
          <p:cNvPr id="30" name="Text 22"/>
          <p:cNvSpPr/>
          <p:nvPr/>
        </p:nvSpPr>
        <p:spPr>
          <a:xfrm>
            <a:off x="5358384" y="4297680"/>
            <a:ext cx="2679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Kit (SDD)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745736" y="4864608"/>
            <a:ext cx="32278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dirigido por especificaciones para apps nuevas y features existentes.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430768" y="4078224"/>
            <a:ext cx="3685032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25"/>
          <p:cNvSpPr/>
          <p:nvPr/>
        </p:nvSpPr>
        <p:spPr>
          <a:xfrm>
            <a:off x="8659368" y="4306824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0808" y="4398264"/>
            <a:ext cx="320040" cy="32004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299448" y="4297680"/>
            <a:ext cx="2679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Personalización y SDK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8686800" y="4864608"/>
            <a:ext cx="322783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instructions, agentes propios e integración vía GitHub Copilot SDK.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548640" y="5989320"/>
            <a:ext cx="1110996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6190488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88720" y="59893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todos los ejercicios:   </a:t>
            </a:r>
            <a:r>
              <a:rPr lang="en-US" sz="1350" u="sng" dirty="0">
                <a:solidFill>
                  <a:srgbClr val="E8FB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https://microsoftlearning.github.io/mslearn-github-copilot-dev/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1792" y="2194560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Certifícate:</a:t>
            </a:r>
            <a:endParaRPr lang="en-US" sz="2900" dirty="0"/>
          </a:p>
          <a:p>
            <a:pPr marL="0" indent="0">
              <a:buNone/>
            </a:pPr>
            <a:r>
              <a:rPr lang="en-US" sz="29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2900" dirty="0"/>
          </a:p>
          <a:p>
            <a:pPr marL="0" indent="0">
              <a:buNone/>
            </a:pPr>
            <a:r>
              <a:rPr lang="en-US" sz="29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GH-300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que valida tu dominio de GitHub Copilot para mejorar productividad, calidad y seguridad en el desarrollo de software.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48920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 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52760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 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 · proctored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566013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Idiomas:  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· EN · PT-BR · KO · JA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0" y="640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evalúa el examen</a:t>
            </a:r>
            <a:endParaRPr lang="en-US" sz="2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26187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2344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responsable de GitHub Copilot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6642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16367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Copilot y sus planes</a:t>
            </a:r>
            <a:endParaRPr lang="en-US" sz="13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06654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03911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arquitectura de Copilot</a:t>
            </a:r>
            <a:endParaRPr lang="en-US" sz="13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468880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40680" y="244144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y contexto</a:t>
            </a:r>
            <a:endParaRPr lang="en-US" sz="13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871216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40680" y="284378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 del desarrollador</a:t>
            </a:r>
            <a:endParaRPr lang="en-US" sz="13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273552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440680" y="3246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Privacidad, exclusiones y salvaguardas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5029200" y="38404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Prepárate con estos tracks de Microsoft Learn</a:t>
            </a:r>
            <a:endParaRPr lang="en-US" sz="1700" dirty="0"/>
          </a:p>
        </p:txBody>
      </p:sp>
      <p:sp>
        <p:nvSpPr>
          <p:cNvPr id="25" name="Shape 16"/>
          <p:cNvSpPr/>
          <p:nvPr/>
        </p:nvSpPr>
        <p:spPr>
          <a:xfrm>
            <a:off x="5029200" y="4343400"/>
            <a:ext cx="6629400" cy="841248"/>
          </a:xfrm>
          <a:prstGeom prst="roundRect">
            <a:avLst>
              <a:gd name="adj" fmla="val 8696"/>
            </a:avLst>
          </a:prstGeom>
          <a:solidFill>
            <a:srgbClr val="F0FBFA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17"/>
          <p:cNvSpPr/>
          <p:nvPr/>
        </p:nvSpPr>
        <p:spPr>
          <a:xfrm>
            <a:off x="5230368" y="456285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4654296"/>
            <a:ext cx="219456" cy="219456"/>
          </a:xfrm>
          <a:prstGeom prst="rect">
            <a:avLst/>
          </a:prstGeom>
        </p:spPr>
      </p:pic>
      <p:sp>
        <p:nvSpPr>
          <p:cNvPr id="28" name="Text 18">
            <a:hlinkClick r:id="rId5"/>
          </p:cNvPr>
          <p:cNvSpPr/>
          <p:nvPr/>
        </p:nvSpPr>
        <p:spPr>
          <a:xfrm>
            <a:off x="5806440" y="446227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u="sng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Copilot Fundamentals — Part 1 of 2</a:t>
            </a:r>
            <a:endParaRPr lang="en-US" sz="1350" dirty="0"/>
          </a:p>
        </p:txBody>
      </p:sp>
      <p:sp>
        <p:nvSpPr>
          <p:cNvPr id="29" name="Text 19">
            <a:hlinkClick r:id="rId5"/>
          </p:cNvPr>
          <p:cNvSpPr/>
          <p:nvPr/>
        </p:nvSpPr>
        <p:spPr>
          <a:xfrm>
            <a:off x="5806440" y="477316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u="sng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https://learn.microsoft.com/en-us/training/paths/copilot/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5029200" y="5303520"/>
            <a:ext cx="6629400" cy="841248"/>
          </a:xfrm>
          <a:prstGeom prst="roundRect">
            <a:avLst>
              <a:gd name="adj" fmla="val 8696"/>
            </a:avLst>
          </a:prstGeom>
          <a:solidFill>
            <a:srgbClr val="F0FBFA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1"/>
          <p:cNvSpPr/>
          <p:nvPr/>
        </p:nvSpPr>
        <p:spPr>
          <a:xfrm>
            <a:off x="5230368" y="552297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5614416"/>
            <a:ext cx="219456" cy="219456"/>
          </a:xfrm>
          <a:prstGeom prst="rect">
            <a:avLst/>
          </a:prstGeom>
        </p:spPr>
      </p:pic>
      <p:sp>
        <p:nvSpPr>
          <p:cNvPr id="33" name="Text 22">
            <a:hlinkClick r:id="rId6"/>
          </p:cNvPr>
          <p:cNvSpPr/>
          <p:nvPr/>
        </p:nvSpPr>
        <p:spPr>
          <a:xfrm>
            <a:off x="5806440" y="54223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u="sng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Copilot Fundamentals — Part 2 of 2</a:t>
            </a:r>
            <a:endParaRPr lang="en-US" sz="1350" dirty="0"/>
          </a:p>
        </p:txBody>
      </p:sp>
      <p:sp>
        <p:nvSpPr>
          <p:cNvPr id="34" name="Text 23">
            <a:hlinkClick r:id="rId6"/>
          </p:cNvPr>
          <p:cNvSpPr/>
          <p:nvPr/>
        </p:nvSpPr>
        <p:spPr>
          <a:xfrm>
            <a:off x="5806440" y="573328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u="sng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https://learn.microsoft.com/en-us/training/paths/gh-copilot-2/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5029200" y="6355080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del examen:  </a:t>
            </a:r>
            <a:r>
              <a:rPr lang="en-US" sz="1100" u="sng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https://aka.ms/GH300-StudyGuide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1544</Words>
  <Application>Microsoft Office PowerPoint</Application>
  <PresentationFormat>Widescreen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Workshop: GitHub Copilot</dc:title>
  <dc:subject>PptxGenJS Presentation</dc:subject>
  <dc:creator>Luise López &amp; Ramón</dc:creator>
  <cp:lastModifiedBy>Luis Lopez</cp:lastModifiedBy>
  <cp:revision>2</cp:revision>
  <dcterms:created xsi:type="dcterms:W3CDTF">2026-07-02T22:48:38Z</dcterms:created>
  <dcterms:modified xsi:type="dcterms:W3CDTF">2026-07-02T23:38:23Z</dcterms:modified>
</cp:coreProperties>
</file>